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solidFill>
              <a:srgbClr val="F6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554480"/>
            <a:ext cx="4754880" cy="4754880"/>
          </a:xfrm>
          <a:prstGeom prst="ellipse">
            <a:avLst/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29800" y="-548640"/>
            <a:ext cx="3291840" cy="3291840"/>
          </a:xfrm>
          <a:prstGeom prst="ellipse">
            <a:avLst/>
          </a:prstGeom>
          <a:solidFill>
            <a:srgbClr val="FECDD6"/>
          </a:solidFill>
          <a:ln>
            <a:solidFill>
              <a:srgbClr val="FEC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394192" y="3429000"/>
            <a:ext cx="4480560" cy="448056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71323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BE123C"/>
                </a:solidFill>
                <a:latin typeface="Aptos"/>
              </a:defRPr>
            </a:pPr>
            <a:r>
              <a:t>NOIVAS &amp; 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35024"/>
            <a:ext cx="71323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4200" b="1">
                <a:solidFill>
                  <a:srgbClr val="111827"/>
                </a:solidFill>
                <a:latin typeface="Aptos"/>
              </a:defRPr>
            </a:pPr>
            <a:r>
              <a:t>Uma nova forma de</a:t>
            </a:r>
            <a:br/>
            <a:r>
              <a:t>gerenciar locações.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Aptos"/>
              </a:defRPr>
            </a:pPr>
            <a:r>
              <a:t>Do sistema local para uma experiência web mais simples,</a:t>
            </a:r>
            <a:br/>
            <a:r>
              <a:t>organizada e preparada para o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2336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4091940"/>
            <a:ext cx="18562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BE123C"/>
                </a:solidFill>
                <a:latin typeface="Aptos"/>
              </a:defRPr>
            </a:pPr>
            <a:r>
              <a:t>APRESENTAÇÃO PARA CLIENTE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1828800"/>
            <a:ext cx="3429000" cy="3218688"/>
          </a:xfrm>
          <a:prstGeom prst="roundRect">
            <a:avLst>
              <a:gd name="adj" fmla="val 2556"/>
            </a:avLst>
          </a:prstGeom>
          <a:solidFill>
            <a:srgbClr val="FFFFFF"/>
          </a:solidFill>
          <a:ln>
            <a:solidFill>
              <a:srgbClr val="FFFFFF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62672" y="1828800"/>
            <a:ext cx="3429000" cy="347472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82127" y="1938528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65008" y="1938528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888" y="1938528"/>
            <a:ext cx="73152" cy="7315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2487168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Painel do dia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926080"/>
            <a:ext cx="1261872" cy="786384"/>
          </a:xfrm>
          <a:prstGeom prst="roundRect">
            <a:avLst>
              <a:gd name="adj" fmla="val 10465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65007" y="30540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BE123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7" y="33924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Aptos"/>
              </a:defRPr>
            </a:pPr>
            <a:r>
              <a:t>A retirar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82328" y="2926080"/>
            <a:ext cx="1261872" cy="786384"/>
          </a:xfrm>
          <a:prstGeom prst="roundRect">
            <a:avLst>
              <a:gd name="adj" fmla="val 10465"/>
            </a:avLst>
          </a:prstGeom>
          <a:solidFill>
            <a:srgbClr val="FFFBEB"/>
          </a:solidFill>
          <a:ln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92055" y="305409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B4530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2055" y="339242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475569"/>
                </a:solidFill>
                <a:latin typeface="Aptos"/>
              </a:defRPr>
            </a:pPr>
            <a:r>
              <a:t>Em aberto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986784"/>
            <a:ext cx="2468880" cy="576072"/>
          </a:xfrm>
          <a:prstGeom prst="roundRect">
            <a:avLst>
              <a:gd name="adj" fmla="val 14285"/>
            </a:avLst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418795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047857"/>
                </a:solidFill>
                <a:latin typeface="Aptos"/>
              </a:defRPr>
            </a:pPr>
            <a:r>
              <a:t>✓  Acervo sob controle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807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ptos"/>
              </a:defRPr>
            </a:pPr>
            <a:r>
              <a:t>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Por que evoluir agora?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 operação merece uma ferramenta compatível com o ritmo da loja.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111827"/>
                </a:solidFill>
                <a:latin typeface="Aptos"/>
              </a:defRPr>
            </a:pPr>
            <a:r>
              <a:t>O sistema anterior cumpre sua história, mas limita o presente.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3502152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2084832"/>
            <a:ext cx="64008" cy="2194560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219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Dependência de um único ponto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70048"/>
            <a:ext cx="2999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A operação fica presa a máquinas e a um ambiente antigo, aumentando o risco de parada.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93392"/>
            <a:ext cx="3502152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2084832"/>
            <a:ext cx="64008" cy="219456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2219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Informação menos acessível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670048"/>
            <a:ext cx="2999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Encontrar dados de clientes, peças e contratos exige mais tempo durante o atendimento.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993392"/>
            <a:ext cx="3502152" cy="237744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0727" y="2084832"/>
            <a:ext cx="64008" cy="219456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2221992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Visão limitada do 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2670048"/>
            <a:ext cx="299923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Pendências, devoluções e recebimentos precisam ser conferidos com mais esforço.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892040"/>
            <a:ext cx="10991088" cy="758952"/>
          </a:xfrm>
          <a:prstGeom prst="roundRect">
            <a:avLst>
              <a:gd name="adj" fmla="val 10843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29784"/>
            <a:ext cx="10332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BE123C"/>
                </a:solidFill>
                <a:latin typeface="Aptos"/>
              </a:defRPr>
            </a:pPr>
            <a:r>
              <a:t>Objetivo da modernização: reduzir riscos, ganhar agilidade e ter tudo o que importa visível na hora certa.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Do aplicativo local para o sistema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 mudança é percebida no dia a dia — sem complicar a rotina.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166360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181051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879092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B45309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3383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111827"/>
                </a:solidFill>
                <a:latin typeface="Aptos"/>
              </a:defRPr>
            </a:pPr>
            <a:r>
              <a:t>Sistema instalado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63240"/>
            <a:ext cx="91440" cy="9144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71800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Uso condicionado a uma máquina específica.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30168"/>
            <a:ext cx="91440" cy="9144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538728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Tecnologia antiga, mais difícil de manter.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97096"/>
            <a:ext cx="91440" cy="9144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05656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Menos praticidade para consultar a operação.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508760"/>
            <a:ext cx="5166360" cy="4224528"/>
          </a:xfrm>
          <a:prstGeom prst="roundRect">
            <a:avLst>
              <a:gd name="adj" fmla="val 1948"/>
            </a:avLst>
          </a:prstGeom>
          <a:solidFill>
            <a:srgbClr val="FFF1F3"/>
          </a:solidFill>
          <a:ln>
            <a:solidFill>
              <a:srgbClr val="FECDD6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11696" y="181051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1879092"/>
            <a:ext cx="71323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BE123C"/>
                </a:solidFill>
                <a:latin typeface="Aptos"/>
              </a:defRPr>
            </a:pPr>
            <a:r>
              <a:t>AGORA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1343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BE123C"/>
                </a:solidFill>
                <a:latin typeface="Aptos"/>
              </a:defRPr>
            </a:pPr>
            <a:r>
              <a:t>Sistema acessado no navegador</a:t>
            </a:r>
          </a:p>
        </p:txBody>
      </p:sp>
      <p:sp>
        <p:nvSpPr>
          <p:cNvPr id="20" name="Oval 19"/>
          <p:cNvSpPr/>
          <p:nvPr/>
        </p:nvSpPr>
        <p:spPr>
          <a:xfrm>
            <a:off x="6739128" y="3063240"/>
            <a:ext cx="91440" cy="91440"/>
          </a:xfrm>
          <a:prstGeom prst="ellipse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2971800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Acesso por computadores autorizados na rede.</a:t>
            </a:r>
          </a:p>
        </p:txBody>
      </p:sp>
      <p:sp>
        <p:nvSpPr>
          <p:cNvPr id="22" name="Oval 21"/>
          <p:cNvSpPr/>
          <p:nvPr/>
        </p:nvSpPr>
        <p:spPr>
          <a:xfrm>
            <a:off x="6739128" y="3630168"/>
            <a:ext cx="91440" cy="91440"/>
          </a:xfrm>
          <a:prstGeom prst="ellipse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67728" y="3538728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Interface moderna, clara e responsiva.</a:t>
            </a:r>
          </a:p>
        </p:txBody>
      </p:sp>
      <p:sp>
        <p:nvSpPr>
          <p:cNvPr id="24" name="Oval 23"/>
          <p:cNvSpPr/>
          <p:nvPr/>
        </p:nvSpPr>
        <p:spPr>
          <a:xfrm>
            <a:off x="6739128" y="4197096"/>
            <a:ext cx="91440" cy="91440"/>
          </a:xfrm>
          <a:prstGeom prst="ellipse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4105656"/>
            <a:ext cx="42062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334155"/>
                </a:solidFill>
                <a:latin typeface="Aptos"/>
              </a:defRPr>
            </a:pPr>
            <a:r>
              <a:t>Dados centralizados em um único sistema.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0760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475569"/>
                </a:solidFill>
                <a:latin typeface="Aptos"/>
              </a:defRPr>
            </a:pPr>
            <a:r>
              <a:t>A mesma operação, com mais liberdade, clareza e controle.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A rotina da loja em um fluxo simples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Cada etapa conversa com a próxima, evitando controles paralelos.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847088"/>
            <a:ext cx="1691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76656" y="199339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2061972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24505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Cliente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715768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Aptos"/>
              </a:defRPr>
            </a:pPr>
            <a:r>
              <a:t>Cadastro e histórico sempre à mão.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2402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3100" b="0">
                <a:solidFill>
                  <a:srgbClr val="BE123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6896" y="1847088"/>
            <a:ext cx="1691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43200" y="1993392"/>
            <a:ext cx="347472" cy="347472"/>
          </a:xfrm>
          <a:prstGeom prst="ellipse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061972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505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Acervo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715768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Aptos"/>
              </a:defRPr>
            </a:pPr>
            <a:r>
              <a:t>Consulta de peça e disponibilidade.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2402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3100" b="0">
                <a:solidFill>
                  <a:srgbClr val="BE123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1847088"/>
            <a:ext cx="1691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09744" y="1993392"/>
            <a:ext cx="347472" cy="347472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9744" y="2061972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9744" y="24505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Locação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2715768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Aptos"/>
              </a:defRPr>
            </a:pPr>
            <a:r>
              <a:t>Contrato, itens e datas organizados.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402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3100" b="0">
                <a:solidFill>
                  <a:srgbClr val="BE123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9984" y="1847088"/>
            <a:ext cx="1691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76288" y="1993392"/>
            <a:ext cx="347472" cy="347472"/>
          </a:xfrm>
          <a:prstGeom prst="ellipse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76288" y="2061972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24505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Retirada e retorno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715768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Aptos"/>
              </a:defRPr>
            </a:pPr>
            <a:r>
              <a:t>Acompanhamento do que saiu e voltou.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4" y="2240280"/>
            <a:ext cx="25603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3100" b="0">
                <a:solidFill>
                  <a:srgbClr val="BE123C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1847088"/>
            <a:ext cx="16916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942832" y="1993392"/>
            <a:ext cx="347472" cy="347472"/>
          </a:xfrm>
          <a:prstGeom prst="ellipse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42832" y="2061972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245059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Financeiro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2715768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  <a:defRPr sz="1000" b="0">
                <a:solidFill>
                  <a:srgbClr val="475569"/>
                </a:solidFill>
                <a:latin typeface="Aptos"/>
              </a:defRPr>
            </a:pPr>
            <a:r>
              <a:t>Parcelas, pagamentos e pendências.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70432" y="4251960"/>
            <a:ext cx="9802368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90472" y="4535424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334155"/>
                </a:solidFill>
                <a:latin typeface="Aptos"/>
              </a:defRPr>
            </a:pPr>
            <a:r>
              <a:t>Resultado: atendimento mais fluido, menos consultas manuais e decisões com informação atualizada.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Melhorias que aparecem na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Mais informação útil na tela, no momento em que a equipe precisa.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553212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83080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11827"/>
                </a:solidFill>
                <a:latin typeface="Aptos"/>
              </a:defRPr>
            </a:pPr>
            <a:r>
              <a:t>Painel de acompanhamento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Resumo da rotina com prioridades visíveis.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2606040"/>
            <a:ext cx="1353312" cy="914400"/>
          </a:xfrm>
          <a:prstGeom prst="roundRect">
            <a:avLst>
              <a:gd name="adj" fmla="val 9000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8892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BE123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75569"/>
                </a:solidFill>
                <a:latin typeface="Aptos"/>
              </a:defRPr>
            </a:pPr>
            <a:r>
              <a:t>A retirar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606040"/>
            <a:ext cx="1353312" cy="914400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>
            <a:solidFill>
              <a:srgbClr val="FFF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B4530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3200400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75569"/>
                </a:solidFill>
                <a:latin typeface="Aptos"/>
              </a:defRPr>
            </a:pPr>
            <a:r>
              <a:t>A devolver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606040"/>
            <a:ext cx="1353312" cy="914400"/>
          </a:xfrm>
          <a:prstGeom prst="roundRect">
            <a:avLst>
              <a:gd name="adj" fmla="val 9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5" y="2788920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D4ED8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5" y="3200400"/>
            <a:ext cx="107899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475569"/>
                </a:solidFill>
                <a:latin typeface="Aptos"/>
              </a:defRPr>
            </a:pPr>
            <a:r>
              <a:t>Em aberto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97763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11827"/>
                </a:solidFill>
                <a:latin typeface="Aptos"/>
              </a:defRPr>
            </a:pPr>
            <a:r>
              <a:t>Próximas retiradas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" y="4343400"/>
            <a:ext cx="4800600" cy="329184"/>
          </a:xfrm>
          <a:prstGeom prst="roundRect">
            <a:avLst>
              <a:gd name="adj" fmla="val 25000"/>
            </a:avLst>
          </a:prstGeom>
          <a:solidFill>
            <a:srgbClr val="FFF1F3"/>
          </a:solidFill>
          <a:ln>
            <a:solidFill>
              <a:srgbClr val="FF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434840"/>
            <a:ext cx="3154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334155"/>
                </a:solidFill>
                <a:latin typeface="Aptos"/>
              </a:defRPr>
            </a:pPr>
            <a:r>
              <a:t>Contrato #1034  •  Ana Souza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434840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BE123C"/>
                </a:solidFill>
                <a:latin typeface="Aptos"/>
              </a:defRPr>
            </a:pPr>
            <a:r>
              <a:t>Hoje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" y="4773168"/>
            <a:ext cx="4800600" cy="329184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1" y="4864607"/>
            <a:ext cx="3154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334155"/>
                </a:solidFill>
                <a:latin typeface="Aptos"/>
              </a:defRPr>
            </a:pPr>
            <a:r>
              <a:t>Contrato #1037  •  Beatriz Lima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864607"/>
            <a:ext cx="6400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000" b="1">
                <a:solidFill>
                  <a:srgbClr val="BE123C"/>
                </a:solidFill>
                <a:latin typeface="Aptos"/>
              </a:defRPr>
            </a:pPr>
            <a:r>
              <a:t>Amanhã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0256" y="1463040"/>
            <a:ext cx="496519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38544" y="1554480"/>
            <a:ext cx="64008" cy="91440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1691640"/>
            <a:ext cx="4507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Disponibilidade confiável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139696"/>
            <a:ext cx="446227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Antes de confirmar, a equipe consulta se a peça estará livre na data desejada.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0256" y="2788920"/>
            <a:ext cx="496519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38544" y="2880360"/>
            <a:ext cx="64008" cy="91440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017520"/>
            <a:ext cx="4507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Status de cada locação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465576"/>
            <a:ext cx="446227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Acompanhe o que está reservado, retirado, devolvido ou em atraso.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0256" y="4114800"/>
            <a:ext cx="496519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38544" y="4206240"/>
            <a:ext cx="64008" cy="91440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4343400"/>
            <a:ext cx="45079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Histórico preservado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791456"/>
            <a:ext cx="4462272" cy="2743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Clientes e contratos ficam organizados para consultas futuras.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Financeiro com mais clareza e acompanhamento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O sistema transforma pendências em informação prática para a equipe.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749039" cy="4114800"/>
          </a:xfrm>
          <a:prstGeom prst="roundRect">
            <a:avLst>
              <a:gd name="adj" fmla="val 2195"/>
            </a:avLst>
          </a:prstGeom>
          <a:solidFill>
            <a:srgbClr val="FFF1F3"/>
          </a:solidFill>
          <a:ln>
            <a:solidFill>
              <a:srgbClr val="FECDD6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BE123C"/>
                </a:solidFill>
                <a:latin typeface="Aptos"/>
              </a:defRPr>
            </a:pPr>
            <a:r>
              <a:t>Controle financeiro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28346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  <a:defRPr sz="1600" b="0">
                <a:solidFill>
                  <a:srgbClr val="334155"/>
                </a:solidFill>
                <a:latin typeface="Aptos"/>
              </a:defRPr>
            </a:pPr>
            <a:r>
              <a:t>Cada locação pode ter suas parcelas, pagamentos e saldo acompanhados de perto.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858768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927348"/>
            <a:ext cx="2130552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BE123C"/>
                </a:solidFill>
                <a:latin typeface="Aptos"/>
              </a:defRPr>
            </a:pPr>
            <a:r>
              <a:t>TRANSPARÊNCIA PARA DECIDIR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389120"/>
            <a:ext cx="2834640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334155"/>
                </a:solidFill>
                <a:latin typeface="Aptos"/>
              </a:defRPr>
            </a:pPr>
            <a:r>
              <a:t>• Valores e vencimentos</a:t>
            </a:r>
            <a:br/>
            <a:r>
              <a:t>• Pagamentos parciais</a:t>
            </a:r>
            <a:br/>
            <a:r>
              <a:t>• Juros configurados para atrasos</a:t>
            </a:r>
            <a:br/>
            <a:r>
              <a:t>• Visão de contas em aberto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3168" y="1572768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91455" y="1664208"/>
            <a:ext cx="64008" cy="164592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80136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Para o balcão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9424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Registro de pagamento simples e saldo atualizado na hora.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572768"/>
            <a:ext cx="3063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02167" y="1664208"/>
            <a:ext cx="64008" cy="164592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1801368"/>
            <a:ext cx="2606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Para a gestão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2249424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400" b="0">
                <a:solidFill>
                  <a:srgbClr val="475569"/>
                </a:solidFill>
                <a:latin typeface="Aptos"/>
              </a:defRPr>
            </a:pPr>
            <a:r>
              <a:t>Relatórios ajudam a enxergar valores a receber e vencimentos.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73168" y="3822191"/>
            <a:ext cx="6473952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4187952"/>
            <a:ext cx="5577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334155"/>
                </a:solidFill>
                <a:latin typeface="Aptos"/>
              </a:defRPr>
            </a:pPr>
            <a:r>
              <a:t>“O financeiro deixa de ser apenas registro e passa a apoiar a decisão diária.”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Informações organizadas, acesso controlado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Tudo fica conectado sem perder a simplicidade de uso.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5074920" y="2112264"/>
            <a:ext cx="2057400" cy="2057400"/>
          </a:xfrm>
          <a:prstGeom prst="ellipse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66944" y="2761488"/>
            <a:ext cx="1691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Dados da</a:t>
            </a:r>
            <a:br/>
            <a:r>
              <a:t>Noivas &amp; 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544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54864" cy="868680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73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827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21408"/>
            <a:ext cx="2468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ptos"/>
              </a:defRPr>
            </a:pPr>
            <a:r>
              <a:t>Cadastros e histórico.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434840"/>
            <a:ext cx="54864" cy="868680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456285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827"/>
                </a:solidFill>
                <a:latin typeface="Aptos"/>
              </a:defRPr>
            </a:pPr>
            <a:r>
              <a:t>Acervo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4910328"/>
            <a:ext cx="2468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ptos"/>
              </a:defRPr>
            </a:pPr>
            <a:r>
              <a:t>Peças, categorias e disponibilidade.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55448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5048" y="1645920"/>
            <a:ext cx="54864" cy="868680"/>
          </a:xfrm>
          <a:prstGeom prst="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77393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827"/>
                </a:solidFill>
                <a:latin typeface="Aptos"/>
              </a:defRPr>
            </a:pPr>
            <a:r>
              <a:t>Locações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21408"/>
            <a:ext cx="2468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ptos"/>
              </a:defRPr>
            </a:pPr>
            <a:r>
              <a:t>Contratos, datas e movimentações.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4343400"/>
            <a:ext cx="30175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85048" y="4434840"/>
            <a:ext cx="54864" cy="86868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56285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11827"/>
                </a:solidFill>
                <a:latin typeface="Aptos"/>
              </a:defRPr>
            </a:pPr>
            <a:r>
              <a:t>Financeiro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910328"/>
            <a:ext cx="24688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569"/>
                </a:solidFill>
                <a:latin typeface="Aptos"/>
              </a:defRPr>
            </a:pPr>
            <a:r>
              <a:t>Parcelas, pagamentos e relatórios.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07792" y="5431536"/>
            <a:ext cx="6400800" cy="530352"/>
          </a:xfrm>
          <a:prstGeom prst="roundRect">
            <a:avLst>
              <a:gd name="adj" fmla="val 15517"/>
            </a:avLst>
          </a:prstGeom>
          <a:solidFill>
            <a:srgbClr val="ECFDF5"/>
          </a:solidFill>
          <a:ln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5614416"/>
            <a:ext cx="59436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047857"/>
                </a:solidFill>
                <a:latin typeface="Aptos"/>
              </a:defRPr>
            </a:pPr>
            <a:r>
              <a:t>Usuários têm acesso somente ao que precisam; a gestão mantém o controle.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111827"/>
                </a:solidFill>
                <a:latin typeface="Aptos"/>
              </a:defRPr>
            </a:pPr>
            <a:r>
              <a:t>Mais segurança para seguir em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05256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A modernização reduz dependências e cria uma base mais confiável para a operação.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691640"/>
            <a:ext cx="64008" cy="3063239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Acesso por usuário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76856"/>
            <a:ext cx="2990087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475569"/>
                </a:solidFill>
                <a:latin typeface="Aptos"/>
              </a:defRPr>
            </a:pPr>
            <a:r>
              <a:t>Cada pessoa entra com sua própria conta. As áreas do sistema podem ser liberadas conforme a função.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160020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691640"/>
            <a:ext cx="64008" cy="3063239"/>
          </a:xfrm>
          <a:prstGeom prst="rect">
            <a:avLst/>
          </a:prstGeom>
          <a:solidFill>
            <a:srgbClr val="047857"/>
          </a:solidFill>
          <a:ln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82880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Cópias de 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276856"/>
            <a:ext cx="2990087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475569"/>
                </a:solidFill>
                <a:latin typeface="Aptos"/>
              </a:defRPr>
            </a:pPr>
            <a:r>
              <a:t>O sistema possui rotina de backup para preservar a base de dados e os arquivos importantes.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0727" y="1600200"/>
            <a:ext cx="3493008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>
            <a:solidFill>
              <a:srgbClr val="CBD5E1"/>
            </a:solidFill>
          </a:ln>
          <a:effectLst>
            <a:outerShdw blurRad="54864" dist="32004" dir="5400000" rotWithShape="0">
              <a:srgbClr val="1E293B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5" y="1691640"/>
            <a:ext cx="64008" cy="3063239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828800"/>
            <a:ext cx="30358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Aptos"/>
              </a:defRPr>
            </a:pPr>
            <a:r>
              <a:t>Base preparada para evoluir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76856"/>
            <a:ext cx="2990087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  <a:defRPr sz="1500" b="0">
                <a:solidFill>
                  <a:srgbClr val="475569"/>
                </a:solidFill>
                <a:latin typeface="Aptos"/>
              </a:defRPr>
            </a:pPr>
            <a:r>
              <a:t>A estrutura foi organizada por áreas da loja, tornando futuras melhorias mais seguras e graduais.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513832"/>
            <a:ext cx="9966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334155"/>
                </a:solidFill>
                <a:latin typeface="Aptos"/>
              </a:defRPr>
            </a:pPr>
            <a:r>
              <a:t>Modernizar não é só trocar de tela: é proteger a continuidade do negócio.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4663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475569"/>
                </a:solidFill>
                <a:latin typeface="Aptos"/>
              </a:defRPr>
            </a:pPr>
            <a:r>
              <a:t>NOIVAS &amp; CIA  •  APRESENTAÇÃO DO SISTEMA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45368" y="6519672"/>
            <a:ext cx="658368" cy="36576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3840480" cy="3840480"/>
          </a:xfrm>
          <a:prstGeom prst="ellipse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371600"/>
            <a:ext cx="3840480" cy="3840480"/>
          </a:xfrm>
          <a:prstGeom prst="ellipse">
            <a:avLst/>
          </a:prstGeom>
          <a:solidFill>
            <a:srgbClr val="9F1239"/>
          </a:solidFill>
          <a:ln>
            <a:solidFill>
              <a:srgbClr val="9F12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25603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ECDD6"/>
                </a:solidFill>
                <a:latin typeface="Aptos"/>
              </a:defRPr>
            </a:pPr>
            <a:r>
              <a:t>NOIVAS &amp; 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9144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3500" b="1">
                <a:solidFill>
                  <a:srgbClr val="FFFFFF"/>
                </a:solidFill>
                <a:latin typeface="Aptos"/>
              </a:defRPr>
            </a:pPr>
            <a:r>
              <a:t>Mais controle para a equipe.</a:t>
            </a:r>
            <a:br/>
            <a:r>
              <a:t>Mais confiança para o negócio.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3044952"/>
            <a:ext cx="8778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E4E9"/>
                </a:solidFill>
                <a:latin typeface="Aptos"/>
              </a:defRPr>
            </a:pPr>
            <a:r>
              <a:t>O novo sistema reúne a operação em uma experiência clara, moderna e preparada</a:t>
            </a:r>
            <a:br/>
            <a:r>
              <a:t>para acompanhar o crescimento da Noivas &amp; 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590288"/>
            <a:ext cx="259689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73168"/>
            <a:ext cx="2450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Atendimento mais ágil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590288"/>
            <a:ext cx="259689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4773168"/>
            <a:ext cx="2450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Dados organizados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4590288"/>
            <a:ext cx="2596896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4773168"/>
            <a:ext cx="24505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BE123C"/>
                </a:solidFill>
                <a:latin typeface="Aptos"/>
              </a:defRPr>
            </a:pPr>
            <a:r>
              <a:t>Gestão mais segura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980176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Agradecemos!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Noivas &amp; Cia — Apresentação do Sistema</dc:title>
  <dc:subject>Evolução do sistema local para uma aplicação web</dc:subject>
  <dc:creator>Noivas &amp; Cia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